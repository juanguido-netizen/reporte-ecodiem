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</a:t>
            </a:r>
            <a:endParaRPr lang="en-US" sz="4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campaña · Dic 2025 – Feb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Tiendanube x Ecodiem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0" y="3749040"/>
            <a:ext cx="365760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C5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Clave del Período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838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LEADS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47472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(PC)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21792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(PC)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0" y="16459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96112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SELLERS (PC)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total: $891.954 ARS · 3 meses de campaña · Atribución: Partner Click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Media: Optimización Mes a Mes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9144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1280160"/>
                <a:gridCol w="1005840"/>
                <a:gridCol w="1280160"/>
                <a:gridCol w="822960"/>
                <a:gridCol w="82296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$302.833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$311.089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101.172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$278.032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$891.954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271.266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097280" y="3474720"/>
            <a:ext cx="2560320" cy="1188720"/>
          </a:xfrm>
          <a:prstGeom prst="roundRect">
            <a:avLst>
              <a:gd name="adj" fmla="val 11538"/>
            </a:avLst>
          </a:prstGeom>
          <a:solidFill>
            <a:srgbClr val="F8F9FC"/>
          </a:solidFill>
          <a:ln/>
        </p:spPr>
      </p:sp>
      <p:sp>
        <p:nvSpPr>
          <p:cNvPr id="5" name="Text 2"/>
          <p:cNvSpPr/>
          <p:nvPr/>
        </p:nvSpPr>
        <p:spPr>
          <a:xfrm>
            <a:off x="1097280" y="3520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-76,5%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97280" y="4069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Dic→Feb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$2.243 → $526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0" y="3474720"/>
            <a:ext cx="2560320" cy="1188720"/>
          </a:xfrm>
          <a:prstGeom prst="roundRect">
            <a:avLst>
              <a:gd name="adj" fmla="val 11538"/>
            </a:avLst>
          </a:prstGeom>
          <a:solidFill>
            <a:srgbClr val="F8F9FC"/>
          </a:solidFill>
          <a:ln/>
        </p:spPr>
      </p:sp>
      <p:sp>
        <p:nvSpPr>
          <p:cNvPr id="9" name="Text 6"/>
          <p:cNvSpPr/>
          <p:nvPr/>
        </p:nvSpPr>
        <p:spPr>
          <a:xfrm>
            <a:off x="4297680" y="3520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+292%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297680" y="4069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Dic→Feb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9768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→ 529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98080" y="3474720"/>
            <a:ext cx="2560320" cy="1188720"/>
          </a:xfrm>
          <a:prstGeom prst="roundRect">
            <a:avLst>
              <a:gd name="adj" fmla="val 11538"/>
            </a:avLst>
          </a:prstGeom>
          <a:solidFill>
            <a:srgbClr val="F8F9FC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0" y="3520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498080" y="4069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Dic→Feb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49808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0,97% → 1,85%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Lead: Caída Dramática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 generó 3,9x más leads que diciembre con menor inversión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0" y="1554480"/>
            <a:ext cx="1828800" cy="2560320"/>
          </a:xfrm>
          <a:prstGeom prst="roundRect">
            <a:avLst>
              <a:gd name="adj" fmla="val 5000"/>
            </a:avLst>
          </a:prstGeom>
          <a:solidFill>
            <a:srgbClr val="3D3D5C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$2.243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210312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3D3D5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$1.788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06640" y="352044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00B894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35890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0664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al Curso (HubSpot / Ecodiem)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registros totales superan a los paid leads → hay un componente orgánico fuerte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291840" cy="2011680"/>
          </a:xfrm>
          <a:prstGeom prst="roundRect">
            <a:avLst>
              <a:gd name="adj" fmla="val 6818"/>
            </a:avLst>
          </a:prstGeom>
          <a:solidFill>
            <a:srgbClr val="F8F9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totales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Paid: 135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Orgánico: 84 (38%)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463040"/>
            <a:ext cx="3291840" cy="2011680"/>
          </a:xfrm>
          <a:prstGeom prst="roundRect">
            <a:avLst>
              <a:gd name="adj" fmla="val 6818"/>
            </a:avLst>
          </a:prstGeom>
          <a:solidFill>
            <a:srgbClr val="F8F9FC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06240" y="1783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326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206240" y="2331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totales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0" y="2697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Paid: 174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2971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Orgánico: 152 (47%)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1463040"/>
            <a:ext cx="3291840" cy="2011680"/>
          </a:xfrm>
          <a:prstGeom prst="roundRect">
            <a:avLst>
              <a:gd name="adj" fmla="val 6818"/>
            </a:avLst>
          </a:prstGeom>
          <a:solidFill>
            <a:srgbClr val="F8F9FC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 (al 14/02)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1783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181*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863840" y="2331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totales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63840" y="2697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Paid: 529 (mes completo)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0" y="2971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Orgánico: 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0" y="3749040"/>
            <a:ext cx="3200400" cy="822960"/>
          </a:xfrm>
          <a:prstGeom prst="roundRect">
            <a:avLst>
              <a:gd name="adj" fmla="val 16667"/>
            </a:avLst>
          </a:prstGeom>
          <a:solidFill>
            <a:srgbClr val="F8F9FC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286000" y="4160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ORGÁNICOS (DIC-ENE)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43600" y="3749040"/>
            <a:ext cx="3200400" cy="822960"/>
          </a:xfrm>
          <a:prstGeom prst="roundRect">
            <a:avLst>
              <a:gd name="adj" fmla="val 16667"/>
            </a:avLst>
          </a:prstGeom>
          <a:solidFill>
            <a:srgbClr val="F8F9FC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726+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943600" y="4160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TOTALES ACUMULADOS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Completo — Partner Click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522476" y="1097280"/>
            <a:ext cx="9144000" cy="502920"/>
          </a:xfrm>
          <a:prstGeom prst="roundRect">
            <a:avLst>
              <a:gd name="adj" fmla="val 14545"/>
            </a:avLst>
          </a:prstGeom>
          <a:solidFill>
            <a:srgbClr val="636E72"/>
          </a:solidFill>
          <a:ln/>
        </p:spPr>
      </p:sp>
      <p:sp>
        <p:nvSpPr>
          <p:cNvPr id="4" name="Text 2"/>
          <p:cNvSpPr/>
          <p:nvPr/>
        </p:nvSpPr>
        <p:spPr>
          <a:xfrm>
            <a:off x="1705356" y="10972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Impresiones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4476" y="1097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271.266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71116" y="16916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B2BEC3"/>
          </a:solidFill>
          <a:ln/>
        </p:spPr>
      </p:sp>
      <p:sp>
        <p:nvSpPr>
          <p:cNvPr id="7" name="Text 5"/>
          <p:cNvSpPr/>
          <p:nvPr/>
        </p:nvSpPr>
        <p:spPr>
          <a:xfrm>
            <a:off x="2253996" y="16916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Clics en enlace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476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3.380  1,25% CTR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11196" y="228600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6C5CE7"/>
          </a:solidFill>
          <a:ln/>
        </p:spPr>
      </p:sp>
      <p:sp>
        <p:nvSpPr>
          <p:cNvPr id="10" name="Text 8"/>
          <p:cNvSpPr/>
          <p:nvPr/>
        </p:nvSpPr>
        <p:spPr>
          <a:xfrm>
            <a:off x="2894076" y="2286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(paid)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4476" y="2286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838  24,8%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79876" y="28803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4834D4"/>
          </a:solidFill>
          <a:ln/>
        </p:spPr>
      </p:sp>
      <p:sp>
        <p:nvSpPr>
          <p:cNvPr id="13" name="Text 11"/>
          <p:cNvSpPr/>
          <p:nvPr/>
        </p:nvSpPr>
        <p:spPr>
          <a:xfrm>
            <a:off x="3762756" y="28803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(PC)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4476" y="28803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 11,1% de leads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65676" y="34747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0B894"/>
          </a:solidFill>
          <a:ln/>
        </p:spPr>
      </p:sp>
      <p:sp>
        <p:nvSpPr>
          <p:cNvPr id="16" name="Text 14"/>
          <p:cNvSpPr/>
          <p:nvPr/>
        </p:nvSpPr>
        <p:spPr>
          <a:xfrm>
            <a:off x="4448556" y="3474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(PC)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4476" y="3474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 32,3% de trials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14316" y="406908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2D54E8"/>
          </a:solidFill>
          <a:ln/>
        </p:spPr>
      </p:sp>
      <p:sp>
        <p:nvSpPr>
          <p:cNvPr id="19" name="Text 17"/>
          <p:cNvSpPr/>
          <p:nvPr/>
        </p:nvSpPr>
        <p:spPr>
          <a:xfrm>
            <a:off x="4997196" y="40690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Sellers (PC)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4476" y="4069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50% de NPs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Conversiones Mes a Mes (Partner Click)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291840" cy="2926080"/>
          </a:xfrm>
          <a:prstGeom prst="roundRect">
            <a:avLst>
              <a:gd name="adj" fmla="val 4688"/>
            </a:avLst>
          </a:prstGeom>
          <a:solidFill>
            <a:srgbClr val="F8F9FC"/>
          </a:solidFill>
          <a:ln w="25400">
            <a:solidFill>
              <a:srgbClr val="E8EC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Trials · 6 NPs · 8 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Lead→Trial: 7,4%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Trial→NP: 60%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097280"/>
            <a:ext cx="3291840" cy="2926080"/>
          </a:xfrm>
          <a:prstGeom prst="roundRect">
            <a:avLst>
              <a:gd name="adj" fmla="val 4688"/>
            </a:avLst>
          </a:prstGeom>
          <a:solidFill>
            <a:srgbClr val="F8F9FC"/>
          </a:solidFill>
          <a:ln w="25400">
            <a:solidFill>
              <a:srgbClr val="6C5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 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Trials · 15 NPs · 2 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Lead→Trial: 28,7%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0" y="2560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Trial→NP: 30%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1097280"/>
            <a:ext cx="3291840" cy="2926080"/>
          </a:xfrm>
          <a:prstGeom prst="roundRect">
            <a:avLst>
              <a:gd name="adj" fmla="val 4688"/>
            </a:avLst>
          </a:prstGeom>
          <a:solidFill>
            <a:srgbClr val="F8F9FC"/>
          </a:solidFill>
          <a:ln w="25400">
            <a:solidFill>
              <a:srgbClr val="E8EC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Trials · 9 NPs · 5 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Lead→Trial: 6,2%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0" y="2560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Trial→NP: 27,3%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 fue el pico de conversión. Febrero priorizó volumen (529 leads a CPL bajo); sus trials probablemente sigan convirtiendo a NP en marzo.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C5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(Partner Click)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17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$1.064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LEAD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promedio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417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$9.591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9184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TRIAL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promedio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417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$29.732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2648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NP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6480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promedio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13716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1417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$59.464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96112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SELLER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961120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promedio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200400"/>
          <a:ext cx="9144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unitario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por Trial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$30.283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$6.222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$8.425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por NP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$50.472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$20.739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$30.893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B7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los Registrados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291840" cy="1371600"/>
          </a:xfrm>
          <a:prstGeom prst="roundRect">
            <a:avLst>
              <a:gd name="adj" fmla="val 10000"/>
            </a:avLst>
          </a:prstGeom>
          <a:solidFill>
            <a:srgbClr val="F8F9F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tienda online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pool de activación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0" y="1097280"/>
            <a:ext cx="3291840" cy="1371600"/>
          </a:xfrm>
          <a:prstGeom prst="roundRect">
            <a:avLst>
              <a:gd name="adj" fmla="val 10000"/>
            </a:avLst>
          </a:prstGeom>
          <a:solidFill>
            <a:srgbClr val="F8F9FC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1097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5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20624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en Tiendanube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 upgrade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863840" y="1097280"/>
            <a:ext cx="3291840" cy="1371600"/>
          </a:xfrm>
          <a:prstGeom prst="roundRect">
            <a:avLst>
              <a:gd name="adj" fmla="val 10000"/>
            </a:avLst>
          </a:prstGeom>
          <a:solidFill>
            <a:srgbClr val="F8F9FC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1097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86384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6384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MX 2%, otros 2%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sectores: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Indumentaria y accesorios — 35%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Hogar, muebles y jardín — 10%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Tecnología y electro — 10%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Alimentos y bienestar — 8%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0175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factura &lt; USD 5.000/año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micro-emprendedores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de Creativos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029200" cy="2286000"/>
          </a:xfrm>
          <a:prstGeom prst="roundRect">
            <a:avLst>
              <a:gd name="adj" fmla="val 8000"/>
            </a:avLst>
          </a:prstGeom>
          <a:solidFill>
            <a:srgbClr val="00B894">
              <a:alpha val="15000"/>
            </a:srgbClr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Mejor performance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55 seg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tenés una tienda o estás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queriendo crear una..."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280160"/>
            <a:ext cx="5029200" cy="2286000"/>
          </a:xfrm>
          <a:prstGeom prst="roundRect">
            <a:avLst>
              <a:gd name="adj" fmla="val 8000"/>
            </a:avLst>
          </a:prstGeom>
          <a:solidFill>
            <a:srgbClr val="E17055">
              <a:alpha val="15000"/>
            </a:srgbClr>
          </a:solidFill>
          <a:ln w="25400">
            <a:solidFill>
              <a:srgbClr val="E170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Peor performance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57 seg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3774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"Atención dueños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online..."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hook inclusivo captura emprendedores en todas las etapas.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 con que el 65% aún no tiene tienda.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1033272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97280"/>
            <a:ext cx="73152" cy="5943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0972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ultra-optimizado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0" y="109728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-76%, CTR +91%, leads +292%. Febrero fue el mes más eficiente.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033272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783080"/>
            <a:ext cx="73152" cy="5943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7830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Trials → 30 NPs → 15 Sellers (PC)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0" y="178308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Partner Click. Tasa Trial→NP de 32,3%. NP→Seller de 50%. Funnel saludable.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468880"/>
            <a:ext cx="1033272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468880"/>
            <a:ext cx="73152" cy="5943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4688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inclusivo gana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246888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tenés o querés crear" supera a "atención dueños". Alineado con la audiencia.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154680"/>
            <a:ext cx="1033272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154680"/>
            <a:ext cx="73152" cy="5943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1546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son leads sin tienda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315468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Enorme pool de activación. El nurturing post-curso es la palanca de crecimiento.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840480"/>
            <a:ext cx="1033272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840480"/>
            <a:ext cx="73152" cy="5943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38404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registros orgánicos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384048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campaña genera awareness que convierte por fuera del paid.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B8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960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Nurturing post-curso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94960" y="9601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de activación para los registrados sin tienda → crear tienda TN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con creativo ganador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94960" y="16002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budget del video 55s. Explorar variaciones del hook inclusivo.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Lead→Trial en alto volumen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22402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tuvo 6,2% vs 28,7% de Ene. Optimizar landing/CTA para convertir más.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880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sellers TN del curso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880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registrados ya tienen TN → upgrade de plan, features premium.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520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de avance por módulo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35204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progreso en el curso para segmentar leads calientes vs. fríos y detectar abandono.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4160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Incentivos para los que avanzan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41605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con Rodri, beneficios extra o rewards para quienes completan módulos o generan ventas.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Tiendanube x Ecodiem · Marzo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0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PC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PC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0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PC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Campaña Maestría en Ecommerce - Ecodiem</dc:title>
  <dc:subject>PptxGenJS Presentation</dc:subject>
  <dc:creator>Tiendanube</dc:creator>
  <cp:lastModifiedBy>Tiendanube</cp:lastModifiedBy>
  <cp:revision>1</cp:revision>
  <dcterms:created xsi:type="dcterms:W3CDTF">2026-03-25T20:45:18Z</dcterms:created>
  <dcterms:modified xsi:type="dcterms:W3CDTF">2026-03-25T20:45:18Z</dcterms:modified>
</cp:coreProperties>
</file>